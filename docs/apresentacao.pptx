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apresentar o nome do projeto e o objetivo do trabalho — relacionar a fundamentação teórica de Linguagens Formais e Autômatos com uma aplicação computacional funcional. Cada integrante se apresenta.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o problema com um exemplo verbal de linha de telemetria corrompida. Mostrar que o formato do registro tem 5 ou 6 campos, cada um validado por uma ER diferente.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Recapitular rapidamente a construção de Thompson antes de entrar nas 6 expressões. Enfatizar a notação de classe usada nos diagramas seguintes, para não confundir com símbolo literal.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ER-01: ler a ER formal, mostrar a sintaxe no código (são o mesmo padrão, por construção), demonstrar uma cadeia aceita e uma rejeitada lendo o AFNε ao lado, e comentar o caso-limite: "PA-BEL-004A." — prefixo válido seguido do ponto sem nenhum dígito: o fecho opcional exige que, havendo o ponto, exista ao menos um dígito. Caso-limite oposto: "PA-BEL-004A" (sufixo ausente, ramo ε) é aceito.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ER-02: ler a ER formal, mostrar a sintaxe no código (são o mesmo padrão, por construção), demonstrar uma cadeia aceita e uma rejeitada lendo o AFNε ao lado, e comentar o caso-limite: "2026-09-21T14:35:02." — a parte obrigatória está completa, mas o ponto abre uma fração vazia; como {1,3} exige pelo menos um dígito, a cadeia é rejeitada. O caso-limite aceito correspondente é "2026-09-21T14:35:02" (ambos os sufixos opcionais em ε).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ER-03: ler a ER formal, mostrar a sintaxe no código (são o mesmo padrão, por construção), demonstrar uma cadeia aceita e uma rejeitada lendo o AFNε ao lado, e comentar o caso-limite: "TEMP=.5C" — número sem parte inteira: o fecho positivo [0-9]+ exige ao menos um dígito antes do ponto, logo a cadeia é rejeitada. O caso-limite aceito é "TEMP=-0C", número mínimo com sinal e sem parte fracionária.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ER-04: ler a ER formal, mostrar a sintaxe no código (são o mesmo padrão, por construção), demonstrar uma cadeia aceita e uma rejeitada lendo o AFNε ao lado, e comentar o caso-limite: "-1.45,-48.50" — coordenada plausível, porém com 2 casas decimais: a repetição {4,6} exige no mínimo 4, e a cadeia é rejeitada. O caso-limite aceito é "0.0000,0.0000" (mínimo de dígitos inteiros e de casas decimais, sem sinal).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ER-05: ler a ER formal, mostrar a sintaxe no código (são o mesmo padrão, por construção), demonstrar uma cadeia aceita e uma rejeitada lendo o AFNε ao lado, e comentar o caso-limite: "!ALERTA:NIVEL2:" — prefixo completo e código vazio: o fecho positivo [A-Z]+ impede a cadeia vazia, logo há rejeição. O caso-limite aceito é "!ALERTA:NIVEL3:A", com o menor código possível (uma única letra e o fecho de Kleene em ε).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ER-06: ler a ER formal, mostrar a sintaxe no código (são o mesmo padrão, por construção), demonstrar uma cadeia aceita e uma rejeitada lendo o AFNε ao lado, e comentar o caso-limite: "fw-v3.11" — versão com apenas dois componentes: a repetição exata {2} exige dois blocos '.número' após o primeiro número, e a cadeia é rejeitada. O caso-limite aceito é "fw-v0.0.1", a menor versão possível, com um dígito em cada bloco e sem rótulo.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Passar rapidamente pelos seis casos-limite juntos, mostrando o padrão comum: todos ficam na fronteira de um fecho (opcional vazio, fecho positivo com zero ocorrências, repetição fora do intervalo).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Executar ao vivo, se possível: python main.py -l "..." e depois python main.py -e ER-03 -c "TEMP=+27.4C" para mostrar a trilha do AFNε. O professor pode pedir novos dados de entrada aqui.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as três camadas de teste: casos manuais (mínimo exigido), aleatórios e mutações. A ausência de divergência em 19 mil e tantas comparações é a evidência prática de que ER e AFNε representam a mesma linguagem.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Deixar claro que essas limitações são inerentes ao modelo regular, não falhas de implementação — e que a camada semântica do processador.py existe justamente para supri-las.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integrante confirma sua parte e demonstra domínio dela. Mencionar rapidamente a declaração de uso de IA, conforme exigido pelo enunciado.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Convidar perguntas e se dispor a rodar o programa com dados fornecidos pelo professor.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R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4663440"/>
            <a:ext cx="14017752" cy="182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4709160"/>
            <a:ext cx="14017752" cy="182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4754880"/>
            <a:ext cx="14017752" cy="182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-914400" y="4800600"/>
            <a:ext cx="14017752" cy="182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-914400" y="4846320"/>
            <a:ext cx="14017752" cy="182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41732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9F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LINGUAGENS FORMAIS E AUTÔMATOS  •  TRABALHO DO 1º BIMESTRE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874520"/>
            <a:ext cx="106344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MeteoRegex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63240"/>
            <a:ext cx="9994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Expressões Regulares e AFNε aplicados à telemetria de estações meteorológicas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79476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Expressões Regulares</a:t>
            </a:r>
            <a:pPr indent="0" marL="0">
              <a:buNone/>
            </a:pPr>
            <a:r>
              <a:rPr lang="en-US" sz="1400" dirty="0">
                <a:solidFill>
                  <a:srgbClr val="6E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AFNε</a:t>
            </a:r>
            <a:pPr indent="0" marL="0">
              <a:buNone/>
            </a:pPr>
            <a:r>
              <a:rPr lang="en-US" sz="1400" dirty="0">
                <a:solidFill>
                  <a:srgbClr val="6E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testes automatizados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98932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COMPLETO DO INTEGRANTE 1]  •  [NOME COMPLETO DO INTEGRANTE 2]  •  [NOME COMPLETO DO INTEGRANTE 3]  •  [NOME COMPLETO DO INTEGRANTE 4]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630936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Entrega: 02/10/2026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68680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Telemetria de estações meteorológicas chega crua, incompleta e às vezes corrompida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914400" cy="41148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600200"/>
            <a:ext cx="5532120" cy="4434840"/>
          </a:xfrm>
          <a:prstGeom prst="roundRect">
            <a:avLst>
              <a:gd name="adj" fmla="val 1649"/>
            </a:avLst>
          </a:prstGeom>
          <a:solidFill>
            <a:srgbClr val="EAF3F8"/>
          </a:solidFill>
          <a:ln w="12700">
            <a:solidFill>
              <a:srgbClr val="D3E1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este tema?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40280"/>
            <a:ext cx="4983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registro traz código da estação, instante da coleta, posição, leituras de sensores, versão de firmware e, às vezes, um alerta.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Falhas de transmissão e sensores descalibrados produzem linhas mal formadas — que precisam ser detectadas antes de qualquer análise.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campo, isoladamente, é uma linguagem regular: sua estrutura é descrita por união, concatenação e fechos, e reconhecida por um autômato finito.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tema evidencia também o limite do modelo: nenhuma ER decide se uma data existe no calendário.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600200"/>
            <a:ext cx="5422392" cy="4434840"/>
          </a:xfrm>
          <a:prstGeom prst="roundRect">
            <a:avLst>
              <a:gd name="adj" fmla="val 1649"/>
            </a:avLst>
          </a:prstGeom>
          <a:solidFill>
            <a:srgbClr val="0E3A55"/>
          </a:solidFill>
          <a:ln w="12700">
            <a:solidFill>
              <a:srgbClr val="D3E1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3796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solução: MeteoRegex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212848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E7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Analisador de linha de comando em Python que valida, extrai e resume registros de telemetria usando 6 ER e os AFNε equivalentes.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37960" y="3108960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C97A2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3108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412480" y="309067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E7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 de log, linha digitada ou cadeia avulsa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537960" y="3767328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C97A2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37960" y="37673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37490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E7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por ER (fullmatch), extração e checagem semântica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37960" y="4425696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C97A2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37960" y="442569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440740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E7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com estatísticas, alertas e registros rejeitados com o motivo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516636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9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"codigo | carimbo | coordenadas | leituras | firmware [ | alerta ]"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MeteoRegex — Linguagens Formais e Autômatos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Expressão Regular ao AFNε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68680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Construção de Thompson: cada operador vira um fragmento de autômato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914400" cy="41148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691640"/>
            <a:ext cx="3657600" cy="1298448"/>
          </a:xfrm>
          <a:prstGeom prst="roundRect">
            <a:avLst>
              <a:gd name="adj" fmla="val 5634"/>
            </a:avLst>
          </a:prstGeom>
          <a:solidFill>
            <a:srgbClr val="EAF3F8"/>
          </a:solidFill>
          <a:ln w="12700">
            <a:solidFill>
              <a:srgbClr val="D3E1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67512" y="1783080"/>
            <a:ext cx="3328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concatenação  r 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67512" y="2167128"/>
            <a:ext cx="3328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fragmentos em série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25112" y="1691640"/>
            <a:ext cx="3657600" cy="1298448"/>
          </a:xfrm>
          <a:prstGeom prst="roundRect">
            <a:avLst>
              <a:gd name="adj" fmla="val 5634"/>
            </a:avLst>
          </a:prstGeom>
          <a:solidFill>
            <a:srgbClr val="EAF3F8"/>
          </a:solidFill>
          <a:ln w="12700">
            <a:solidFill>
              <a:srgbClr val="D3E1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489704" y="1783080"/>
            <a:ext cx="3328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união  r | 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489704" y="2167128"/>
            <a:ext cx="3328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do estado de escolha para cada ramo; ε de cada ramo para a junção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47304" y="1691640"/>
            <a:ext cx="3657600" cy="1298448"/>
          </a:xfrm>
          <a:prstGeom prst="roundRect">
            <a:avLst>
              <a:gd name="adj" fmla="val 5634"/>
            </a:avLst>
          </a:prstGeom>
          <a:solidFill>
            <a:srgbClr val="EAF3F8"/>
          </a:solidFill>
          <a:ln w="12700">
            <a:solidFill>
              <a:srgbClr val="D3E1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311896" y="1783080"/>
            <a:ext cx="3328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fecho positivo  r+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311896" y="2167128"/>
            <a:ext cx="3328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ocorrência obrigatória + ε de retorno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154680"/>
            <a:ext cx="3657600" cy="1298448"/>
          </a:xfrm>
          <a:prstGeom prst="roundRect">
            <a:avLst>
              <a:gd name="adj" fmla="val 5634"/>
            </a:avLst>
          </a:prstGeom>
          <a:solidFill>
            <a:srgbClr val="EAF3F8"/>
          </a:solidFill>
          <a:ln w="12700">
            <a:solidFill>
              <a:srgbClr val="D3E1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67512" y="3246120"/>
            <a:ext cx="3328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fecho de Kleene  r*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" y="3630168"/>
            <a:ext cx="3328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r+, mais um ε de desvio (ramo vazio)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325112" y="3154680"/>
            <a:ext cx="3657600" cy="1298448"/>
          </a:xfrm>
          <a:prstGeom prst="roundRect">
            <a:avLst>
              <a:gd name="adj" fmla="val 5634"/>
            </a:avLst>
          </a:prstGeom>
          <a:solidFill>
            <a:srgbClr val="EAF3F8"/>
          </a:solidFill>
          <a:ln w="12700">
            <a:solidFill>
              <a:srgbClr val="D3E1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489704" y="3246120"/>
            <a:ext cx="3328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opcionalidade  r?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489704" y="3630168"/>
            <a:ext cx="3328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que salta o fragmento — é ( r | ε 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147304" y="3154680"/>
            <a:ext cx="3657600" cy="1298448"/>
          </a:xfrm>
          <a:prstGeom prst="roundRect">
            <a:avLst>
              <a:gd name="adj" fmla="val 5634"/>
            </a:avLst>
          </a:prstGeom>
          <a:solidFill>
            <a:srgbClr val="EAF3F8"/>
          </a:solidFill>
          <a:ln w="12700">
            <a:solidFill>
              <a:srgbClr val="D3E1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311896" y="3246120"/>
            <a:ext cx="3328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repetição  r{m,n}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311896" y="3630168"/>
            <a:ext cx="3328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cópias obrigatórias + (n−m) cópias com saída por ε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2920" y="4709160"/>
            <a:ext cx="11183112" cy="1325880"/>
          </a:xfrm>
          <a:prstGeom prst="roundRect">
            <a:avLst>
              <a:gd name="adj" fmla="val 5517"/>
            </a:avLst>
          </a:prstGeom>
          <a:solidFill>
            <a:srgbClr val="FCF2E4"/>
          </a:solidFill>
          <a:ln w="12700">
            <a:solidFill>
              <a:srgbClr val="EBD3A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777240" y="48920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Notação usada nos diagramas:  </a:t>
            </a:r>
            <a:pPr indent="0" marL="0">
              <a:buNone/>
            </a:pPr>
            <a:r>
              <a:rPr lang="en-US" sz="1300" dirty="0">
                <a:solidFill>
                  <a:srgbClr val="1323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⟨M⟩ = [A-Z]   ⟨D⟩ = [0-9]   ⟨S⟩ = [+-]   ⟨N⟩ = [1-3]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5285232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transição rotulada por uma classe abrevia a união das transições sobre cada símbolo dela — exatamente como [A-Z] abrevia (A | B | ... | Z). Arestas tracejadas (laranja) são movimentos ε; arestas sólidas (azul) consomem um símbolo.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MeteoRegex — Linguagens Formais e Autômatos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ER-01 — Código de estação meteorológica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68680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1 do registro de telemetria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914400" cy="41148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600200"/>
            <a:ext cx="5074920" cy="1078992"/>
          </a:xfrm>
          <a:prstGeom prst="roundRect">
            <a:avLst>
              <a:gd name="adj" fmla="val 6780"/>
            </a:avLst>
          </a:prstGeom>
          <a:solidFill>
            <a:srgbClr val="EAF3F8"/>
          </a:solidFill>
          <a:ln w="12700">
            <a:solidFill>
              <a:srgbClr val="D3E1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691640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formal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47672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23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M - M M M - D D D M ( . D ( D | ε ) | ε 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323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 abreviada: M{2} - M{3} - D{3} M ( . D{1,2} )?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2770632"/>
            <a:ext cx="5074920" cy="777240"/>
          </a:xfrm>
          <a:prstGeom prst="roundRect">
            <a:avLst>
              <a:gd name="adj" fmla="val 9412"/>
            </a:avLst>
          </a:prstGeom>
          <a:solidFill>
            <a:srgbClr val="0E3A55"/>
          </a:solidFill>
          <a:ln w="12700">
            <a:solidFill>
              <a:srgbClr val="D3E1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85800" y="2852928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Sintaxe no código (Python)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099816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r"[A-Z]{2}-[A-Z]{3}-[0-9]{3}[A-Z](?:\.[0-9]{1,2})?"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639312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EAF3F8"/>
          </a:solidFill>
          <a:ln w="12700">
            <a:solidFill>
              <a:srgbClr val="D3E1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85800" y="373075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reconhecida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977640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Cadeias formadas por duas letras maiúsculas (sigla da UF), um hífen, três letras maiúsculas (código do município), um hífen, três dígitos (número sequencial da estação) e uma letra maiúscula (revisão do hardware), seguidas opcionalmente de um ponto e de um ou dois dígitos que identificam a sub-estação.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02920" y="4709160"/>
            <a:ext cx="2446020" cy="1325880"/>
          </a:xfrm>
          <a:prstGeom prst="roundRect">
            <a:avLst>
              <a:gd name="adj" fmla="val 5517"/>
            </a:avLst>
          </a:prstGeom>
          <a:solidFill>
            <a:srgbClr val="EAF6EF"/>
          </a:solidFill>
          <a:ln w="12700">
            <a:solidFill>
              <a:srgbClr val="BFE1C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12648" y="4782312"/>
            <a:ext cx="22265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Aceitas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12648" y="5010912"/>
            <a:ext cx="22265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5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PA-BEL-004A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5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PA-ANA-127B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5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AM-MAO-001A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5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PA-BEL-004A.2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131820" y="4709160"/>
            <a:ext cx="2446020" cy="1325880"/>
          </a:xfrm>
          <a:prstGeom prst="roundRect">
            <a:avLst>
              <a:gd name="adj" fmla="val 5517"/>
            </a:avLst>
          </a:prstGeom>
          <a:solidFill>
            <a:srgbClr val="FBEAE7"/>
          </a:solidFill>
          <a:ln w="12700">
            <a:solidFill>
              <a:srgbClr val="F0C4B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3241548" y="4782312"/>
            <a:ext cx="22265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34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Rejeitadas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3241548" y="5010912"/>
            <a:ext cx="22265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2A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pa-bel-004a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2A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PA-BE-004A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2A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PA-BEL-04A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2A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PA-BEL-004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806440" y="1600200"/>
            <a:ext cx="5879592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3E1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5943600" y="1673352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AFNε ER-01  —  18 estados · 19 transições · 5 movimentos ε</a:t>
            </a:r>
            <a:endParaRPr lang="en-US" sz="1050" dirty="0"/>
          </a:p>
        </p:txBody>
      </p:sp>
      <p:pic>
        <p:nvPicPr>
          <p:cNvPr id="22" name="Image 0" descr="/home/claude/proj/docs/diagramas/png/ER-0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1993392"/>
            <a:ext cx="5605272" cy="3913632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MeteoRegex — Linguagens Formais e Autômatos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ER-02 — Carimbo temporal ISO-8601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68680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2 do registro de telemetria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914400" cy="41148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600200"/>
            <a:ext cx="5074920" cy="1078992"/>
          </a:xfrm>
          <a:prstGeom prst="roundRect">
            <a:avLst>
              <a:gd name="adj" fmla="val 6780"/>
            </a:avLst>
          </a:prstGeom>
          <a:solidFill>
            <a:srgbClr val="EAF3F8"/>
          </a:solidFill>
          <a:ln w="12700">
            <a:solidFill>
              <a:srgbClr val="D3E1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691640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formal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47672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23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D{4} - D{2} - D{2} T D{2} : D{2} : D{2} ( . D ( D ( D | ε ) | ε ) | ε ) ( Z | ( + | - ) D{2} : D{2} | ε 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2770632"/>
            <a:ext cx="5074920" cy="777240"/>
          </a:xfrm>
          <a:prstGeom prst="roundRect">
            <a:avLst>
              <a:gd name="adj" fmla="val 9412"/>
            </a:avLst>
          </a:prstGeom>
          <a:solidFill>
            <a:srgbClr val="0E3A55"/>
          </a:solidFill>
          <a:ln w="12700">
            <a:solidFill>
              <a:srgbClr val="D3E1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85800" y="2852928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Sintaxe no código (Python)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099816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r"[0-9]{4}-[0-9]{2}-[0-9]{2}T[0-9]{2}:[0-9]{2}:[0-9]{2}(?:\.[0-9]{1,3})?(?:Z|[+-][0-9]{2}:[0-9]{2})?"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639312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EAF3F8"/>
          </a:solidFill>
          <a:ln w="12700">
            <a:solidFill>
              <a:srgbClr val="D3E1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85800" y="373075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reconhecida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977640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Cadeias no formato AAAA-MM-DDThh:mm:ss, opcionalmente seguidas de um ponto e de 1 a 3 dígitos (milissegundos) e, opcionalmente, de um indicador de fuso: a letra Z (UTC) ou um sinal seguido de hh:mm.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02920" y="4709160"/>
            <a:ext cx="2446020" cy="1325880"/>
          </a:xfrm>
          <a:prstGeom prst="roundRect">
            <a:avLst>
              <a:gd name="adj" fmla="val 5517"/>
            </a:avLst>
          </a:prstGeom>
          <a:solidFill>
            <a:srgbClr val="EAF6EF"/>
          </a:solidFill>
          <a:ln w="12700">
            <a:solidFill>
              <a:srgbClr val="BFE1C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12648" y="4782312"/>
            <a:ext cx="22265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Aceitas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12648" y="5010912"/>
            <a:ext cx="22265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5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2026-09-21T14:35:02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5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2026-09-21T14:35:02Z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5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2026-09-21T14:35:02.5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5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2026-09-21T14:35:02.123-03:00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131820" y="4709160"/>
            <a:ext cx="2446020" cy="1325880"/>
          </a:xfrm>
          <a:prstGeom prst="roundRect">
            <a:avLst>
              <a:gd name="adj" fmla="val 5517"/>
            </a:avLst>
          </a:prstGeom>
          <a:solidFill>
            <a:srgbClr val="FBEAE7"/>
          </a:solidFill>
          <a:ln w="12700">
            <a:solidFill>
              <a:srgbClr val="F0C4B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3241548" y="4782312"/>
            <a:ext cx="22265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34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Rejeitadas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3241548" y="5010912"/>
            <a:ext cx="22265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2A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2026-09-21 14:35:02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2A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26-09-21T14:35:02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2A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2026-09-21T14:35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2A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2026-09-21T14:35:02.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806440" y="1600200"/>
            <a:ext cx="5879592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3E1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5943600" y="1673352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AFNε ER-02  —  37 estados · 41 transições · 11 movimentos ε</a:t>
            </a:r>
            <a:endParaRPr lang="en-US" sz="1050" dirty="0"/>
          </a:p>
        </p:txBody>
      </p:sp>
      <p:pic>
        <p:nvPicPr>
          <p:cNvPr id="22" name="Image 0" descr="/home/claude/proj/docs/diagramas/png/ER-0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1993392"/>
            <a:ext cx="5605272" cy="3913632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MeteoRegex — Linguagens Formais e Autômatos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ER-03 — Leitura de sensor com unidade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68680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4 do registro (itens separados por ';')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914400" cy="41148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600200"/>
            <a:ext cx="5074920" cy="1078992"/>
          </a:xfrm>
          <a:prstGeom prst="roundRect">
            <a:avLst>
              <a:gd name="adj" fmla="val 6780"/>
            </a:avLst>
          </a:prstGeom>
          <a:solidFill>
            <a:srgbClr val="EAF3F8"/>
          </a:solidFill>
          <a:ln w="12700">
            <a:solidFill>
              <a:srgbClr val="D3E1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691640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formal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47672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23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M M ( M | ε ) = ( + | - | ε ) D D* ( . D D* | ε ) ( C | % | m m | h P a | m / s 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2770632"/>
            <a:ext cx="5074920" cy="777240"/>
          </a:xfrm>
          <a:prstGeom prst="roundRect">
            <a:avLst>
              <a:gd name="adj" fmla="val 9412"/>
            </a:avLst>
          </a:prstGeom>
          <a:solidFill>
            <a:srgbClr val="0E3A55"/>
          </a:solidFill>
          <a:ln w="12700">
            <a:solidFill>
              <a:srgbClr val="D3E1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85800" y="2852928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Sintaxe no código (Python)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099816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r"[A-Z]{3,4}=[+-]?[0-9]+(?:\.[0-9]+)?(?:C|%|mm|hPa|m/s)"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639312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EAF3F8"/>
          </a:solidFill>
          <a:ln w="12700">
            <a:solidFill>
              <a:srgbClr val="D3E1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85800" y="373075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reconhecida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977640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Cadeias compostas por uma sigla de 3 ou 4 letras maiúsculas, o símbolo '=', um número decimal com sinal opcional e parte fracionária opcional, e uma unidade pertencente a { C, %, mm, hPa, m/s }.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02920" y="4709160"/>
            <a:ext cx="2446020" cy="1325880"/>
          </a:xfrm>
          <a:prstGeom prst="roundRect">
            <a:avLst>
              <a:gd name="adj" fmla="val 5517"/>
            </a:avLst>
          </a:prstGeom>
          <a:solidFill>
            <a:srgbClr val="EAF6EF"/>
          </a:solidFill>
          <a:ln w="12700">
            <a:solidFill>
              <a:srgbClr val="BFE1C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12648" y="4782312"/>
            <a:ext cx="22265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Aceitas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12648" y="5010912"/>
            <a:ext cx="22265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5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TEMP=+27.4C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5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UMID=85%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5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PLUV=0.0mm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5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PRES=1012.75hPa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131820" y="4709160"/>
            <a:ext cx="2446020" cy="1325880"/>
          </a:xfrm>
          <a:prstGeom prst="roundRect">
            <a:avLst>
              <a:gd name="adj" fmla="val 5517"/>
            </a:avLst>
          </a:prstGeom>
          <a:solidFill>
            <a:srgbClr val="FBEAE7"/>
          </a:solidFill>
          <a:ln w="12700">
            <a:solidFill>
              <a:srgbClr val="F0C4B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3241548" y="4782312"/>
            <a:ext cx="22265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34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Rejeitadas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3241548" y="5010912"/>
            <a:ext cx="22265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2A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TEMP=27.4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2A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TE=27C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2A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TEMPER=27C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2A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TEMP=.5C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806440" y="1600200"/>
            <a:ext cx="5879592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3E1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5943600" y="1673352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AFNε ER-03  —  30 estados · 38 transições · 19 movimentos ε</a:t>
            </a:r>
            <a:endParaRPr lang="en-US" sz="1050" dirty="0"/>
          </a:p>
        </p:txBody>
      </p:sp>
      <p:pic>
        <p:nvPicPr>
          <p:cNvPr id="22" name="Image 0" descr="/home/claude/proj/docs/diagramas/png/ER-0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1993392"/>
            <a:ext cx="5605272" cy="3913632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MeteoRegex — Linguagens Formais e Autômatos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ER-04 — Par de coordenadas geodésicas decimais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68680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3 do registro de telemetria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914400" cy="41148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600200"/>
            <a:ext cx="5074920" cy="1078992"/>
          </a:xfrm>
          <a:prstGeom prst="roundRect">
            <a:avLst>
              <a:gd name="adj" fmla="val 6780"/>
            </a:avLst>
          </a:prstGeom>
          <a:solidFill>
            <a:srgbClr val="EAF3F8"/>
          </a:solidFill>
          <a:ln w="12700">
            <a:solidFill>
              <a:srgbClr val="D3E1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691640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formal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47672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23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, N, onde N = ( + | - | ε ) D ( D ( D | ε ) | ε ) . D D D D ( D ( D | ε ) | ε 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323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 abreviada: N = ( + | - )? D{1,3} . D{4,6}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2770632"/>
            <a:ext cx="5074920" cy="777240"/>
          </a:xfrm>
          <a:prstGeom prst="roundRect">
            <a:avLst>
              <a:gd name="adj" fmla="val 9412"/>
            </a:avLst>
          </a:prstGeom>
          <a:solidFill>
            <a:srgbClr val="0E3A55"/>
          </a:solidFill>
          <a:ln w="12700">
            <a:solidFill>
              <a:srgbClr val="D3E1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85800" y="2852928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Sintaxe no código (Python)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099816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r"[+-]?[0-9]{1,3}\.[0-9]{4,6},[+-]?[0-9]{1,3}\.[0-9]{4,6}"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639312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EAF3F8"/>
          </a:solidFill>
          <a:ln w="12700">
            <a:solidFill>
              <a:srgbClr val="D3E1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85800" y="373075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reconhecida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977640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números decimais separados por vírgula; cada número possui sinal opcional, de 1 a 3 dígitos inteiros, ponto obrigatório e de 4 a 6 casas decimais.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02920" y="4709160"/>
            <a:ext cx="2446020" cy="1325880"/>
          </a:xfrm>
          <a:prstGeom prst="roundRect">
            <a:avLst>
              <a:gd name="adj" fmla="val 5517"/>
            </a:avLst>
          </a:prstGeom>
          <a:solidFill>
            <a:srgbClr val="EAF6EF"/>
          </a:solidFill>
          <a:ln w="12700">
            <a:solidFill>
              <a:srgbClr val="BFE1C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12648" y="4782312"/>
            <a:ext cx="22265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Aceitas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12648" y="5010912"/>
            <a:ext cx="22265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5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-1.455833,-48.503889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5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+1.4558,-48.5038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5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0.0000,0.0000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5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-23.550520,-46.633308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131820" y="4709160"/>
            <a:ext cx="2446020" cy="1325880"/>
          </a:xfrm>
          <a:prstGeom prst="roundRect">
            <a:avLst>
              <a:gd name="adj" fmla="val 5517"/>
            </a:avLst>
          </a:prstGeom>
          <a:solidFill>
            <a:srgbClr val="FBEAE7"/>
          </a:solidFill>
          <a:ln w="12700">
            <a:solidFill>
              <a:srgbClr val="F0C4B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3241548" y="4782312"/>
            <a:ext cx="22265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34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Rejeitadas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3241548" y="5010912"/>
            <a:ext cx="22265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2A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-1.455833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2A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-1.45,-48.50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2A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-1455833,-48503889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2A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-1.455833;-48.503889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806440" y="1600200"/>
            <a:ext cx="5879592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3E1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5943600" y="1673352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AFNε ER-04  —  30 estados · 39 transições · 16 movimentos ε</a:t>
            </a:r>
            <a:endParaRPr lang="en-US" sz="1050" dirty="0"/>
          </a:p>
        </p:txBody>
      </p:sp>
      <p:pic>
        <p:nvPicPr>
          <p:cNvPr id="22" name="Image 0" descr="/home/claude/proj/docs/diagramas/png/ER-0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1993392"/>
            <a:ext cx="5605272" cy="3913632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MeteoRegex — Linguagens Formais e Autômatos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ER-05 — Alerta hidrometeorológico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68680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6 (opcional) do registro de telemetria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914400" cy="41148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600200"/>
            <a:ext cx="5074920" cy="1078992"/>
          </a:xfrm>
          <a:prstGeom prst="roundRect">
            <a:avLst>
              <a:gd name="adj" fmla="val 6780"/>
            </a:avLst>
          </a:prstGeom>
          <a:solidFill>
            <a:srgbClr val="EAF3F8"/>
          </a:solidFill>
          <a:ln w="12700">
            <a:solidFill>
              <a:srgbClr val="D3E1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691640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formal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47672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23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 A L E R T A : N I V E L ( 1 | 2 | 3 ) : P ( _ P )*, onde P = M M*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2770632"/>
            <a:ext cx="5074920" cy="777240"/>
          </a:xfrm>
          <a:prstGeom prst="roundRect">
            <a:avLst>
              <a:gd name="adj" fmla="val 9412"/>
            </a:avLst>
          </a:prstGeom>
          <a:solidFill>
            <a:srgbClr val="0E3A55"/>
          </a:solidFill>
          <a:ln w="12700">
            <a:solidFill>
              <a:srgbClr val="D3E1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85800" y="2852928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Sintaxe no código (Python)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099816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r"!ALERTA:NIVEL[1-3]:[A-Z]+(?:_[A-Z]+)*"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639312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EAF3F8"/>
          </a:solidFill>
          <a:ln w="12700">
            <a:solidFill>
              <a:srgbClr val="D3E1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85800" y="373075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reconhecida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977640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Cadeias iniciadas por "!ALERTA:NIVEL", seguidas de um dígito de 1 a 3, de ':' e de um código formado por uma ou mais palavras de letras maiúsculas separadas por sublinhado.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02920" y="4709160"/>
            <a:ext cx="2446020" cy="1325880"/>
          </a:xfrm>
          <a:prstGeom prst="roundRect">
            <a:avLst>
              <a:gd name="adj" fmla="val 5517"/>
            </a:avLst>
          </a:prstGeom>
          <a:solidFill>
            <a:srgbClr val="EAF6EF"/>
          </a:solidFill>
          <a:ln w="12700">
            <a:solidFill>
              <a:srgbClr val="BFE1C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12648" y="4782312"/>
            <a:ext cx="22265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Aceitas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12648" y="5010912"/>
            <a:ext cx="22265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5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!ALERTA:NIVEL1:CHUVA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5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!ALERTA:NIVEL2:CHUVA_FORTE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5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!ALERTA:NIVEL3:VENDAVAL_COM_DESCARGAS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5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!ALERTA:NIVEL3:A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131820" y="4709160"/>
            <a:ext cx="2446020" cy="1325880"/>
          </a:xfrm>
          <a:prstGeom prst="roundRect">
            <a:avLst>
              <a:gd name="adj" fmla="val 5517"/>
            </a:avLst>
          </a:prstGeom>
          <a:solidFill>
            <a:srgbClr val="FBEAE7"/>
          </a:solidFill>
          <a:ln w="12700">
            <a:solidFill>
              <a:srgbClr val="F0C4B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3241548" y="4782312"/>
            <a:ext cx="22265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34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Rejeitadas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3241548" y="5010912"/>
            <a:ext cx="22265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2A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ALERTA:NIVEL1:CHUVA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2A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!ALERTA:NIVEL4:CHUVA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2A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!ALERTA:NIVEL2:chuva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2A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!ALERTA:NIVEL2: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806440" y="1600200"/>
            <a:ext cx="5879592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3E1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5943600" y="1673352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AFNε ER-05  —  21 estados · 23 transições · 5 movimentos ε</a:t>
            </a:r>
            <a:endParaRPr lang="en-US" sz="1050" dirty="0"/>
          </a:p>
        </p:txBody>
      </p:sp>
      <p:pic>
        <p:nvPicPr>
          <p:cNvPr id="22" name="Image 0" descr="/home/claude/proj/docs/diagramas/png/ER-0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1993392"/>
            <a:ext cx="5605272" cy="3913632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MeteoRegex — Linguagens Formais e Autômatos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ER-06 — Versão de firmware da estação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68680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5 do registro de telemetria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914400" cy="41148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600200"/>
            <a:ext cx="5074920" cy="1078992"/>
          </a:xfrm>
          <a:prstGeom prst="roundRect">
            <a:avLst>
              <a:gd name="adj" fmla="val 6780"/>
            </a:avLst>
          </a:prstGeom>
          <a:solidFill>
            <a:srgbClr val="EAF3F8"/>
          </a:solidFill>
          <a:ln w="12700">
            <a:solidFill>
              <a:srgbClr val="D3E1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691640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formal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47672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23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w - v D D* ( . D D* ){2} ( - ( a l p h a | b e t a | r c ) . D D* | ε 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2770632"/>
            <a:ext cx="5074920" cy="777240"/>
          </a:xfrm>
          <a:prstGeom prst="roundRect">
            <a:avLst>
              <a:gd name="adj" fmla="val 9412"/>
            </a:avLst>
          </a:prstGeom>
          <a:solidFill>
            <a:srgbClr val="0E3A55"/>
          </a:solidFill>
          <a:ln w="12700">
            <a:solidFill>
              <a:srgbClr val="D3E1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85800" y="2852928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Sintaxe no código (Python)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099816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r"fw-v[0-9]+(?:\.[0-9]+){2}(?:-(?:alpha|beta|rc)\.[0-9]+)?"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639312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EAF3F8"/>
          </a:solidFill>
          <a:ln w="12700">
            <a:solidFill>
              <a:srgbClr val="D3E1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85800" y="373075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reconhecida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977640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Cadeias iniciadas pelo prefixo literal "fw-v", seguidas de três números inteiros separados por ponto (maior.menor.correção) e, opcionalmente, de um rótulo de pré-lançamento formado por '-', uma das palavras alpha, beta ou rc, um ponto e um número.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02920" y="4709160"/>
            <a:ext cx="2446020" cy="1325880"/>
          </a:xfrm>
          <a:prstGeom prst="roundRect">
            <a:avLst>
              <a:gd name="adj" fmla="val 5517"/>
            </a:avLst>
          </a:prstGeom>
          <a:solidFill>
            <a:srgbClr val="EAF6EF"/>
          </a:solidFill>
          <a:ln w="12700">
            <a:solidFill>
              <a:srgbClr val="BFE1C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12648" y="4782312"/>
            <a:ext cx="22265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Aceitas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12648" y="5010912"/>
            <a:ext cx="22265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5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fw-v3.11.2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5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fw-v0.0.1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5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fw-v12.0.45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5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fw-v3.11.2-beta.4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131820" y="4709160"/>
            <a:ext cx="2446020" cy="1325880"/>
          </a:xfrm>
          <a:prstGeom prst="roundRect">
            <a:avLst>
              <a:gd name="adj" fmla="val 5517"/>
            </a:avLst>
          </a:prstGeom>
          <a:solidFill>
            <a:srgbClr val="FBEAE7"/>
          </a:solidFill>
          <a:ln w="12700">
            <a:solidFill>
              <a:srgbClr val="F0C4B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3241548" y="4782312"/>
            <a:ext cx="22265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34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Rejeitadas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3241548" y="5010912"/>
            <a:ext cx="22265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2A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fw-v3.11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2A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fw-v3.11.2.4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2A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v3.11.2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2A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fw-v3.11.2-beta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806440" y="1600200"/>
            <a:ext cx="5879592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3E1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5943600" y="1673352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AFNε ER-06  —  30 estados · 36 transições · 13 movimentos ε</a:t>
            </a:r>
            <a:endParaRPr lang="en-US" sz="1050" dirty="0"/>
          </a:p>
        </p:txBody>
      </p:sp>
      <p:pic>
        <p:nvPicPr>
          <p:cNvPr id="22" name="Image 0" descr="/home/claude/proj/docs/diagramas/png/ER-0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1993392"/>
            <a:ext cx="5605272" cy="3913632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MeteoRegex — Linguagens Formais e Autômatos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seis casos-limite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68680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cada linguagem toca sua própria fronteira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914400" cy="41148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691640"/>
            <a:ext cx="11183112" cy="603504"/>
          </a:xfrm>
          <a:prstGeom prst="roundRect">
            <a:avLst>
              <a:gd name="adj" fmla="val 12121"/>
            </a:avLst>
          </a:prstGeom>
          <a:solidFill>
            <a:srgbClr val="EAF3F8"/>
          </a:solidFill>
          <a:ln w="12700">
            <a:solidFill>
              <a:srgbClr val="D3E1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746504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ER-01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1746504"/>
            <a:ext cx="9692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3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PA-BEL-004A.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404872"/>
            <a:ext cx="11183112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3E1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85800" y="2459736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ER-02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2459736"/>
            <a:ext cx="9692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3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2026-09-21T14:35:02.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3118104"/>
            <a:ext cx="11183112" cy="603504"/>
          </a:xfrm>
          <a:prstGeom prst="roundRect">
            <a:avLst>
              <a:gd name="adj" fmla="val 12121"/>
            </a:avLst>
          </a:prstGeom>
          <a:solidFill>
            <a:srgbClr val="EAF3F8"/>
          </a:solidFill>
          <a:ln w="12700">
            <a:solidFill>
              <a:srgbClr val="D3E1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85800" y="3172968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ER-03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828800" y="3172968"/>
            <a:ext cx="9692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3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TEMP=.5C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831336"/>
            <a:ext cx="11183112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3E1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85800" y="3886200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ER-04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828800" y="3886200"/>
            <a:ext cx="9692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3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-1.45,-48.50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4544568"/>
            <a:ext cx="11183112" cy="603504"/>
          </a:xfrm>
          <a:prstGeom prst="roundRect">
            <a:avLst>
              <a:gd name="adj" fmla="val 12121"/>
            </a:avLst>
          </a:prstGeom>
          <a:solidFill>
            <a:srgbClr val="EAF3F8"/>
          </a:solidFill>
          <a:ln w="12700">
            <a:solidFill>
              <a:srgbClr val="D3E1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85800" y="4599432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ER-05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828800" y="4599432"/>
            <a:ext cx="9692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3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!ALERTA:NIVEL2: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5257800"/>
            <a:ext cx="11183112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3E1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85800" y="5312664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ER-06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828800" y="5312664"/>
            <a:ext cx="9692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3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fw-v3.11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MeteoRegex — Linguagens Formais e Autômatos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68680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do programa sobre um registro real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914400" cy="41148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645920"/>
            <a:ext cx="11183112" cy="1417320"/>
          </a:xfrm>
          <a:prstGeom prst="roundRect">
            <a:avLst>
              <a:gd name="adj" fmla="val 5161"/>
            </a:avLst>
          </a:prstGeom>
          <a:solidFill>
            <a:srgbClr val="0E3A55"/>
          </a:solidFill>
          <a:ln w="12700">
            <a:solidFill>
              <a:srgbClr val="D3E1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31520" y="181051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3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main.py -l "PA-BEL-004A|2026-09-21T14:35:02Z|-1.455833,-48.503889|TEMP=+27.4C;UMID=85%;PLUV=12.5mm|fw-v3.11.2-beta.4|!ALERTA:NIVEL2:CHUVA_FORTE"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28600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Registro VÁLIDO.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estação   : PA-BEL-004A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instante  : 2026-09-21T14:35:02+00:00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leitura   : TEMP = 27.4 C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firmware  : fw-v3.11.2-beta.4 (pré-lançamento)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alerta    : nível 2 — CHUVA_FORTE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3337560"/>
            <a:ext cx="3602736" cy="2697480"/>
          </a:xfrm>
          <a:prstGeom prst="roundRect">
            <a:avLst>
              <a:gd name="adj" fmla="val 2712"/>
            </a:avLst>
          </a:prstGeom>
          <a:solidFill>
            <a:srgbClr val="EAF3F8"/>
          </a:solidFill>
          <a:ln w="12700">
            <a:solidFill>
              <a:srgbClr val="D3E1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35661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C97A2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187952"/>
            <a:ext cx="3145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e AFNε concordam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617720"/>
            <a:ext cx="31455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validação exibe, lado a lado, o veredito da Expressão Regular e o da simulação do AFNε.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288536" y="3337560"/>
            <a:ext cx="3602736" cy="2697480"/>
          </a:xfrm>
          <a:prstGeom prst="roundRect">
            <a:avLst>
              <a:gd name="adj" fmla="val 2712"/>
            </a:avLst>
          </a:prstGeom>
          <a:solidFill>
            <a:srgbClr val="EAF3F8"/>
          </a:solidFill>
          <a:ln w="12700">
            <a:solidFill>
              <a:srgbClr val="D3E1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17136" y="35661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C97A2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17136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4517136" y="4187952"/>
            <a:ext cx="3145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Trilha do autômato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517136" y="4617720"/>
            <a:ext cx="31455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opção -e/-c mostra o conjunto de estados após cada símbolo consumido, até o estado final.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74152" y="3337560"/>
            <a:ext cx="3602736" cy="2697480"/>
          </a:xfrm>
          <a:prstGeom prst="roundRect">
            <a:avLst>
              <a:gd name="adj" fmla="val 2712"/>
            </a:avLst>
          </a:prstGeom>
          <a:solidFill>
            <a:srgbClr val="EAF3F8"/>
          </a:solidFill>
          <a:ln w="12700">
            <a:solidFill>
              <a:srgbClr val="D3E1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02752" y="35661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C97A2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302752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8302752" y="4187952"/>
            <a:ext cx="3145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Mensagens claras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302752" y="4617720"/>
            <a:ext cx="31455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 inexistente, campo vazio ou ER desconhecida nunca geram rastreamento de erro.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MeteoRegex — Linguagens Formais e Autômatos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Testes automatizados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68680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testes — unittest da biblioteca padrão, sem dependências externas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914400" cy="41148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691640"/>
            <a:ext cx="2724912" cy="1737360"/>
          </a:xfrm>
          <a:prstGeom prst="roundRect">
            <a:avLst>
              <a:gd name="adj" fmla="val 4211"/>
            </a:avLst>
          </a:prstGeom>
          <a:solidFill>
            <a:srgbClr val="0E3A55"/>
          </a:solidFill>
          <a:ln w="12700">
            <a:solidFill>
              <a:srgbClr val="D3E1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02920" y="1828800"/>
            <a:ext cx="2724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06040"/>
            <a:ext cx="2450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cadeias de teste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 aceitas + 6 rejeitadas × 6 ER)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46704" y="1691640"/>
            <a:ext cx="2724912" cy="1737360"/>
          </a:xfrm>
          <a:prstGeom prst="roundRect">
            <a:avLst>
              <a:gd name="adj" fmla="val 4211"/>
            </a:avLst>
          </a:prstGeom>
          <a:solidFill>
            <a:srgbClr val="0E3A55"/>
          </a:solidFill>
          <a:ln w="12700">
            <a:solidFill>
              <a:srgbClr val="D3E1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346704" y="1828800"/>
            <a:ext cx="2724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432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3483864" y="2606040"/>
            <a:ext cx="2450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comparações ER × AFNε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cadeias do projeto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90488" y="1691640"/>
            <a:ext cx="2724912" cy="1737360"/>
          </a:xfrm>
          <a:prstGeom prst="roundRect">
            <a:avLst>
              <a:gd name="adj" fmla="val 4211"/>
            </a:avLst>
          </a:prstGeom>
          <a:solidFill>
            <a:srgbClr val="0E3A55"/>
          </a:solidFill>
          <a:ln w="12700">
            <a:solidFill>
              <a:srgbClr val="D3E1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190488" y="1828800"/>
            <a:ext cx="2724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12 000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327648" y="2606040"/>
            <a:ext cx="2450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cadeias aleatórias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sorteadas sobre o alfabeto de cada AFNε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34272" y="1691640"/>
            <a:ext cx="2724912" cy="1737360"/>
          </a:xfrm>
          <a:prstGeom prst="roundRect">
            <a:avLst>
              <a:gd name="adj" fmla="val 4211"/>
            </a:avLst>
          </a:prstGeom>
          <a:solidFill>
            <a:srgbClr val="0E3A55"/>
          </a:solidFill>
          <a:ln w="12700">
            <a:solidFill>
              <a:srgbClr val="D3E1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034272" y="1828800"/>
            <a:ext cx="2724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7 200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9171432" y="2606040"/>
            <a:ext cx="2450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mutações de cadeias válidas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(troca, remoção, inserção de símbolo)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657600"/>
            <a:ext cx="11183112" cy="1005840"/>
          </a:xfrm>
          <a:prstGeom prst="roundRect">
            <a:avLst>
              <a:gd name="adj" fmla="val 7273"/>
            </a:avLst>
          </a:prstGeom>
          <a:solidFill>
            <a:srgbClr val="EAF6EF"/>
          </a:solidFill>
          <a:ln w="12700">
            <a:solidFill>
              <a:srgbClr val="BFE1C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77240" y="385876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Resultado: 0 divergências entre Expressão Regular e AFNε em todos os testes.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02920" y="4846320"/>
            <a:ext cx="11183112" cy="1188720"/>
          </a:xfrm>
          <a:prstGeom prst="roundRect">
            <a:avLst>
              <a:gd name="adj" fmla="val 6154"/>
            </a:avLst>
          </a:prstGeom>
          <a:solidFill>
            <a:srgbClr val="EAF3F8"/>
          </a:solidFill>
          <a:ln w="12700">
            <a:solidFill>
              <a:srgbClr val="D3E1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77240" y="50109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-m unittest discover -s testes -t 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main.py -t   # bateria visual das cadeias de teste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MeteoRegex — Linguagens Formais e Autômatos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 e melhorias possíveis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68680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uma linguagem regular não resolve — e o que fizemos a respeito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914400" cy="41148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691640"/>
            <a:ext cx="5440680" cy="1024128"/>
          </a:xfrm>
          <a:prstGeom prst="roundRect">
            <a:avLst>
              <a:gd name="adj" fmla="val 7143"/>
            </a:avLst>
          </a:prstGeom>
          <a:solidFill>
            <a:srgbClr val="EAF3F8"/>
          </a:solidFill>
          <a:ln w="12700">
            <a:solidFill>
              <a:srgbClr val="D3E1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783080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34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Datas, faixas geográficas e físicas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513832" cy="1024128"/>
          </a:xfrm>
          <a:prstGeom prst="roundRect">
            <a:avLst>
              <a:gd name="adj" fmla="val 7143"/>
            </a:avLst>
          </a:prstGeom>
          <a:solidFill>
            <a:srgbClr val="EAF6EF"/>
          </a:solidFill>
          <a:ln w="12700">
            <a:solidFill>
              <a:srgbClr val="BFE1C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355080" y="1783080"/>
            <a:ext cx="5166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ER aceita "2026-02-30"; a checagem de calendário e de faixa é numérica, feita depois do reconhecimento.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825496"/>
            <a:ext cx="5440680" cy="1024128"/>
          </a:xfrm>
          <a:prstGeom prst="roundRect">
            <a:avLst>
              <a:gd name="adj" fmla="val 7143"/>
            </a:avLst>
          </a:prstGeom>
          <a:solidFill>
            <a:srgbClr val="EAF3F8"/>
          </a:solidFill>
          <a:ln w="12700">
            <a:solidFill>
              <a:srgbClr val="D3E1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85800" y="2916936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34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completo em uma única ER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2825496"/>
            <a:ext cx="5513832" cy="1024128"/>
          </a:xfrm>
          <a:prstGeom prst="roundRect">
            <a:avLst>
              <a:gd name="adj" fmla="val 7143"/>
            </a:avLst>
          </a:prstGeom>
          <a:solidFill>
            <a:srgbClr val="EAF6EF"/>
          </a:solidFill>
          <a:ln w="12700">
            <a:solidFill>
              <a:srgbClr val="BFE1C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355080" y="2916936"/>
            <a:ext cx="5166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Optamos por 6 expressões menores e combináveis, mantendo cada AFNε legível para o diagrama.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959352"/>
            <a:ext cx="5440680" cy="1024128"/>
          </a:xfrm>
          <a:prstGeom prst="roundRect">
            <a:avLst>
              <a:gd name="adj" fmla="val 7143"/>
            </a:avLst>
          </a:prstGeom>
          <a:solidFill>
            <a:srgbClr val="EAF3F8"/>
          </a:solidFill>
          <a:ln w="12700">
            <a:solidFill>
              <a:srgbClr val="D3E1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85800" y="4050792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34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de AFNε sem indexação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72200" y="3959352"/>
            <a:ext cx="5513832" cy="1024128"/>
          </a:xfrm>
          <a:prstGeom prst="roundRect">
            <a:avLst>
              <a:gd name="adj" fmla="val 7143"/>
            </a:avLst>
          </a:prstGeom>
          <a:solidFill>
            <a:srgbClr val="EAF6EF"/>
          </a:solidFill>
          <a:ln w="12700">
            <a:solidFill>
              <a:srgbClr val="BFE1C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355080" y="4050792"/>
            <a:ext cx="5166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Percorre a lista de transições a cada símbolo; irrelevante para os tamanhos deste trabalho (até 37 estados).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5093208"/>
            <a:ext cx="5440680" cy="1024128"/>
          </a:xfrm>
          <a:prstGeom prst="roundRect">
            <a:avLst>
              <a:gd name="adj" fmla="val 7143"/>
            </a:avLst>
          </a:prstGeom>
          <a:solidFill>
            <a:srgbClr val="EAF3F8"/>
          </a:solidFill>
          <a:ln w="12700">
            <a:solidFill>
              <a:srgbClr val="D3E1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85800" y="5184648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34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 apenas em texto no terminal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5093208"/>
            <a:ext cx="5513832" cy="1024128"/>
          </a:xfrm>
          <a:prstGeom prst="roundRect">
            <a:avLst>
              <a:gd name="adj" fmla="val 7143"/>
            </a:avLst>
          </a:prstGeom>
          <a:solidFill>
            <a:srgbClr val="EAF6EF"/>
          </a:solidFill>
          <a:ln w="12700">
            <a:solidFill>
              <a:srgbClr val="BFE1C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355080" y="5184648"/>
            <a:ext cx="5166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 natural: exportar CSV/JSON e gerar gráficos por estação.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MeteoRegex — Linguagens Formais e Autômatos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Contribuição de cada integrante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68680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Divisão do trabalho ao longo do projeto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914400" cy="41148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737360"/>
            <a:ext cx="11183112" cy="960120"/>
          </a:xfrm>
          <a:prstGeom prst="roundRect">
            <a:avLst>
              <a:gd name="adj" fmla="val 7619"/>
            </a:avLst>
          </a:prstGeom>
          <a:solidFill>
            <a:srgbClr val="EAF3F8"/>
          </a:solidFill>
          <a:ln w="12700">
            <a:solidFill>
              <a:srgbClr val="D3E1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956816"/>
            <a:ext cx="530352" cy="53035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9568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18562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[NOME COMPLETO DO INTEGRANTE 1]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19456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ER-01 e ER-02  ·  módulo expressoes.py  ·  documentação e relatório técnico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807208"/>
            <a:ext cx="1118311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3E1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3026664"/>
            <a:ext cx="530352" cy="53035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302666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29260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[NOME COMPLETO DO INTEGRANTE 2]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264408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ER-03 e ER-04  ·  módulo processador.py  ·  dados de exemplo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3877056"/>
            <a:ext cx="11183112" cy="960120"/>
          </a:xfrm>
          <a:prstGeom prst="roundRect">
            <a:avLst>
              <a:gd name="adj" fmla="val 7619"/>
            </a:avLst>
          </a:prstGeom>
          <a:solidFill>
            <a:srgbClr val="EAF3F8"/>
          </a:solidFill>
          <a:ln w="12700">
            <a:solidFill>
              <a:srgbClr val="D3E1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4096512"/>
            <a:ext cx="530352" cy="53035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409651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39959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[NOME COMPLETO DO INTEGRANTE 3]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4334256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ER-05 e ER-06  ·  módulo automatos.py  ·  diagramas dos AFNε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4946904"/>
            <a:ext cx="1118311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3E1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5166360"/>
            <a:ext cx="530352" cy="53035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51663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508760" y="506577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[NOME COMPLETO DO INTEGRANTE 4]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508760" y="5404104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cli.py e relatorio.py  ·  testes automatizados  ·  apresentação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608076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IA declarado em README.md e no relatório técnico — apoio em redação, organização de módulos e geração dos diagramas, sempre revisado e compreendido pela equipe.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MeteoRegex — Linguagens Formais e Autômatos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468880"/>
            <a:ext cx="10543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52044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Perguntas, novos dados de entrada ou alterações — à disposição para a demonstração.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12648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Repositório e documentação completa: README.md  ·  docs/expressoes_regulares.md  ·  docs/afne_formal.md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2026-09-23T13:24:21Z</dcterms:created>
  <dcterms:modified xsi:type="dcterms:W3CDTF">2026-09-23T13:24:21Z</dcterms:modified>
</cp:coreProperties>
</file>